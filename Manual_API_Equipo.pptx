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tapa presenta el manual y su versión. El equipo sale de esta nota sabiendo que cada consulta es una URL + un header, y que todo lo demás son ejemplos de esa llamada.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Primera sección: una URL base, un header X-API-Key y una sola excepción. El resto son detalles de ese contrato.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Segunda sección: listar stock, un SKU, resumen, health y almacenes. Cada slide siguiente muestra el comando exacto de una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Tercera sección: el mismo header y la misma URL en curl, JavaScript y Python.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URL base es la raíz de cada llamada. Toda petición lleva el header X-API-Key; la única excepción es /health, que queda público de propósito para que el healthcheck de Render funcione. Swagger interactivo en /docs para probar sin escribir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el almacen es una S*, la API usa fuente=todas de forma automática y devuelve VES más sucursales combinadas. limit recorta el tamaño de la respuesta.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consulta por SKU devuelve todos los almacenes donde existe: la ficha de 02217 muestra 63.400 unidades en VES y 7.000 en el almacén 40, con precio, EAN y unidades por caja.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endpoints de estado: /resumen devuelve métricas agregadas; /health informa la última descarga y si el cache es válido; /almacenes lista las bodegas, filtrable por tipo=venta o tipo=mktd.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probar desde la terminal: listar stock de VES y consultar un SKU puntual. La clave va en el header X-API-Key, igual que en todos los lenguajes.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frontend se usa fetch con el header X-API-Key; en scripts de Python, requests. Ambos reciben el mismo JSON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filtros se combinan entre sí. almacen auto-detecta las sucursales; search recorre SKU y descripción; limit corta la respuesta y su máximo es 5000.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respuesta de un SKU trae identidad, stock por almacén y atributos comerciales. sin_catalogo marca los productos que no están en el catálogo maestral.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almacenes se agrupan por negocio. Para listar stock de venta se filtra con tipo=venta; para marketing, con tipo=mktd, que incluye la 118 y las bodegas S*.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API limita a 60 peticiones por minuto por IP. El stock se cachea 10 minutos y el catálogo 6 horas. cache_expirado:true avisa de datos previos al último refresco. La actualización corre de lunes a sábado de 7:00 a 22:59.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manual termina con las tres rutas útiles: la documentación interactiva, el repositorio del servicio y la versión vigente (1.4.0).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s-role:title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s-lead:Title"/>
          <p:cNvSpPr/>
          <p:nvPr/>
        </p:nvSpPr>
        <p:spPr>
          <a:xfrm>
            <a:off x="609905" y="1554480"/>
            <a:ext cx="6583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7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G360 Stock API</a:t>
            </a:r>
            <a:endParaRPr lang="en-US" sz="7200" dirty="0"/>
          </a:p>
        </p:txBody>
      </p:sp>
      <p:sp>
        <p:nvSpPr>
          <p:cNvPr id="3" name="slides-field:Subtitle"/>
          <p:cNvSpPr/>
          <p:nvPr/>
        </p:nvSpPr>
        <p:spPr>
          <a:xfrm>
            <a:off x="609905" y="379476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de acceso para el equipo · v1.4.0</a:t>
            </a:r>
            <a:endParaRPr lang="en-US" sz="1800" dirty="0"/>
          </a:p>
        </p:txBody>
      </p:sp>
      <p:sp>
        <p:nvSpPr>
          <p:cNvPr id="4" name="deco-terminal-main"/>
          <p:cNvSpPr/>
          <p:nvPr/>
        </p:nvSpPr>
        <p:spPr>
          <a:xfrm>
            <a:off x="7955280" y="1874520"/>
            <a:ext cx="3291840" cy="2286000"/>
          </a:xfrm>
          <a:prstGeom prst="roundRect">
            <a:avLst>
              <a:gd name="adj" fmla="val 4800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5" name="deco-terminal-text"/>
          <p:cNvSpPr/>
          <p:nvPr/>
        </p:nvSpPr>
        <p:spPr>
          <a:xfrm>
            <a:off x="8211312" y="2148840"/>
            <a:ext cx="27797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D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</a:t>
            </a:r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/api/v1/stock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x-api-key: &lt;clave&gt;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s-role:section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s-ghost"/>
          <p:cNvSpPr/>
          <p:nvPr/>
        </p:nvSpPr>
        <p:spPr>
          <a:xfrm>
            <a:off x="609905" y="118872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7200" b="1" dirty="0">
                <a:solidFill>
                  <a:srgbClr val="00D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slides-lead:Title"/>
          <p:cNvSpPr/>
          <p:nvPr/>
        </p:nvSpPr>
        <p:spPr>
          <a:xfrm>
            <a:off x="609905" y="3154680"/>
            <a:ext cx="9601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Conexión</a:t>
            </a:r>
            <a:endParaRPr lang="en-US" sz="4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s-role:composed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s-ghost"/>
          <p:cNvSpPr/>
          <p:nvPr/>
        </p:nvSpPr>
        <p:spPr>
          <a:xfrm>
            <a:off x="609905" y="118872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7200" b="1" dirty="0">
                <a:solidFill>
                  <a:srgbClr val="00D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slides-lead:Title"/>
          <p:cNvSpPr/>
          <p:nvPr/>
        </p:nvSpPr>
        <p:spPr>
          <a:xfrm>
            <a:off x="609905" y="3154680"/>
            <a:ext cx="9601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</a:t>
            </a:r>
            <a:endParaRPr lang="en-US" sz="4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s-role:section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s-ghost"/>
          <p:cNvSpPr/>
          <p:nvPr/>
        </p:nvSpPr>
        <p:spPr>
          <a:xfrm>
            <a:off x="609905" y="118872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7200" b="1" dirty="0">
                <a:solidFill>
                  <a:srgbClr val="00D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slides-lead:Title"/>
          <p:cNvSpPr/>
          <p:nvPr/>
        </p:nvSpPr>
        <p:spPr>
          <a:xfrm>
            <a:off x="609905" y="3154680"/>
            <a:ext cx="9601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código</a:t>
            </a:r>
            <a:endParaRPr lang="en-US" sz="4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s-role:composed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s-lead:Title"/>
          <p:cNvSpPr/>
          <p:nvPr/>
        </p:nvSpPr>
        <p:spPr>
          <a:xfrm>
            <a:off x="609905" y="5486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URL y un header</a:t>
            </a:r>
            <a:endParaRPr lang="en-US" sz="3200" dirty="0"/>
          </a:p>
        </p:txBody>
      </p:sp>
      <p:sp>
        <p:nvSpPr>
          <p:cNvPr id="3" name="deco-card-1"/>
          <p:cNvSpPr/>
          <p:nvPr/>
        </p:nvSpPr>
        <p:spPr>
          <a:xfrm>
            <a:off x="609905" y="1828800"/>
            <a:ext cx="2516657" cy="3657600"/>
          </a:xfrm>
          <a:prstGeom prst="roundRect">
            <a:avLst>
              <a:gd name="adj" fmla="val 4360"/>
            </a:avLst>
          </a:prstGeom>
          <a:solidFill>
            <a:srgbClr val="F0F4F8">
              <a:alpha val="10000"/>
            </a:srgbClr>
          </a:solidFill>
          <a:ln w="12700">
            <a:solidFill>
              <a:srgbClr val="F0F4F8">
                <a:alpha val="15000"/>
              </a:srgbClr>
            </a:solidFill>
            <a:prstDash val="solid"/>
          </a:ln>
        </p:spPr>
      </p:sp>
      <p:sp>
        <p:nvSpPr>
          <p:cNvPr id="4" name="slides-field:Body"/>
          <p:cNvSpPr/>
          <p:nvPr/>
        </p:nvSpPr>
        <p:spPr>
          <a:xfrm>
            <a:off x="838505" y="2103120"/>
            <a:ext cx="205945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URL</a:t>
            </a:r>
            <a:endParaRPr lang="en-US" sz="1800" dirty="0"/>
          </a:p>
        </p:txBody>
      </p:sp>
      <p:sp>
        <p:nvSpPr>
          <p:cNvPr id="5" name="slides-field:Body"/>
          <p:cNvSpPr/>
          <p:nvPr/>
        </p:nvSpPr>
        <p:spPr>
          <a:xfrm>
            <a:off x="838505" y="2743200"/>
            <a:ext cx="2059457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onrender.com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/api/v1/stock</a:t>
            </a:r>
            <a:endParaRPr lang="en-US" sz="1200" dirty="0"/>
          </a:p>
        </p:txBody>
      </p:sp>
      <p:sp>
        <p:nvSpPr>
          <p:cNvPr id="6" name="deco-card-2"/>
          <p:cNvSpPr/>
          <p:nvPr/>
        </p:nvSpPr>
        <p:spPr>
          <a:xfrm>
            <a:off x="3428314" y="1828800"/>
            <a:ext cx="2516657" cy="3657600"/>
          </a:xfrm>
          <a:prstGeom prst="roundRect">
            <a:avLst>
              <a:gd name="adj" fmla="val 4360"/>
            </a:avLst>
          </a:prstGeom>
          <a:solidFill>
            <a:srgbClr val="00D084"/>
          </a:solidFill>
          <a:ln w="12700">
            <a:solidFill>
              <a:srgbClr val="00D084"/>
            </a:solidFill>
            <a:prstDash val="solid"/>
          </a:ln>
        </p:spPr>
      </p:sp>
      <p:sp>
        <p:nvSpPr>
          <p:cNvPr id="7" name="slides-field:Body"/>
          <p:cNvSpPr/>
          <p:nvPr/>
        </p:nvSpPr>
        <p:spPr>
          <a:xfrm>
            <a:off x="3656914" y="2103120"/>
            <a:ext cx="205945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</a:t>
            </a:r>
            <a:endParaRPr lang="en-US" sz="1800" dirty="0"/>
          </a:p>
        </p:txBody>
      </p:sp>
      <p:sp>
        <p:nvSpPr>
          <p:cNvPr id="8" name="slides-field:Body"/>
          <p:cNvSpPr/>
          <p:nvPr/>
        </p:nvSpPr>
        <p:spPr>
          <a:xfrm>
            <a:off x="3656914" y="2743200"/>
            <a:ext cx="2059457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X-API-Key 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peticiones</a:t>
            </a:r>
            <a:endParaRPr lang="en-US" sz="1200" dirty="0"/>
          </a:p>
        </p:txBody>
      </p:sp>
      <p:sp>
        <p:nvSpPr>
          <p:cNvPr id="9" name="deco-card-3"/>
          <p:cNvSpPr/>
          <p:nvPr/>
        </p:nvSpPr>
        <p:spPr>
          <a:xfrm>
            <a:off x="6246724" y="1828800"/>
            <a:ext cx="2516657" cy="3657600"/>
          </a:xfrm>
          <a:prstGeom prst="roundRect">
            <a:avLst>
              <a:gd name="adj" fmla="val 4360"/>
            </a:avLst>
          </a:prstGeom>
          <a:solidFill>
            <a:srgbClr val="F0F4F8">
              <a:alpha val="10000"/>
            </a:srgbClr>
          </a:solidFill>
          <a:ln w="12700">
            <a:solidFill>
              <a:srgbClr val="F0F4F8">
                <a:alpha val="15000"/>
              </a:srgbClr>
            </a:solidFill>
            <a:prstDash val="solid"/>
          </a:ln>
        </p:spPr>
      </p:sp>
      <p:sp>
        <p:nvSpPr>
          <p:cNvPr id="10" name="slides-field:Body"/>
          <p:cNvSpPr/>
          <p:nvPr/>
        </p:nvSpPr>
        <p:spPr>
          <a:xfrm>
            <a:off x="6475324" y="2103120"/>
            <a:ext cx="205945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Excepción</a:t>
            </a:r>
            <a:endParaRPr lang="en-US" sz="1800" dirty="0"/>
          </a:p>
        </p:txBody>
      </p:sp>
      <p:sp>
        <p:nvSpPr>
          <p:cNvPr id="11" name="slides-field:Body"/>
          <p:cNvSpPr/>
          <p:nvPr/>
        </p:nvSpPr>
        <p:spPr>
          <a:xfrm>
            <a:off x="6475324" y="2743200"/>
            <a:ext cx="2059457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/health: público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para Render</a:t>
            </a:r>
            <a:endParaRPr lang="en-US" sz="1200" dirty="0"/>
          </a:p>
        </p:txBody>
      </p:sp>
      <p:sp>
        <p:nvSpPr>
          <p:cNvPr id="12" name="deco-card-4"/>
          <p:cNvSpPr/>
          <p:nvPr/>
        </p:nvSpPr>
        <p:spPr>
          <a:xfrm>
            <a:off x="9065133" y="1828800"/>
            <a:ext cx="2516657" cy="3657600"/>
          </a:xfrm>
          <a:prstGeom prst="roundRect">
            <a:avLst>
              <a:gd name="adj" fmla="val 4360"/>
            </a:avLst>
          </a:prstGeom>
          <a:solidFill>
            <a:srgbClr val="F0F4F8">
              <a:alpha val="10000"/>
            </a:srgbClr>
          </a:solidFill>
          <a:ln w="12700">
            <a:solidFill>
              <a:srgbClr val="F0F4F8">
                <a:alpha val="15000"/>
              </a:srgbClr>
            </a:solidFill>
            <a:prstDash val="solid"/>
          </a:ln>
        </p:spPr>
      </p:sp>
      <p:sp>
        <p:nvSpPr>
          <p:cNvPr id="13" name="slides-field:Body"/>
          <p:cNvSpPr/>
          <p:nvPr/>
        </p:nvSpPr>
        <p:spPr>
          <a:xfrm>
            <a:off x="9293733" y="2103120"/>
            <a:ext cx="205945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</a:t>
            </a:r>
            <a:endParaRPr lang="en-US" sz="1800" dirty="0"/>
          </a:p>
        </p:txBody>
      </p:sp>
      <p:sp>
        <p:nvSpPr>
          <p:cNvPr id="14" name="slides-field:Body"/>
          <p:cNvSpPr/>
          <p:nvPr/>
        </p:nvSpPr>
        <p:spPr>
          <a:xfrm>
            <a:off x="9293733" y="2743200"/>
            <a:ext cx="2059457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/docs: Swagger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interactivo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s-role:composed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s-lead:Title"/>
          <p:cNvSpPr/>
          <p:nvPr/>
        </p:nvSpPr>
        <p:spPr>
          <a:xfrm>
            <a:off x="609905" y="5486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Listar stock por almacén</a:t>
            </a:r>
            <a:endParaRPr lang="en-US" sz="3200" dirty="0"/>
          </a:p>
        </p:txBody>
      </p:sp>
      <p:sp>
        <p:nvSpPr>
          <p:cNvPr id="3" name="deco-terminal"/>
          <p:cNvSpPr/>
          <p:nvPr/>
        </p:nvSpPr>
        <p:spPr>
          <a:xfrm>
            <a:off x="609905" y="1874520"/>
            <a:ext cx="10971886" cy="1371600"/>
          </a:xfrm>
          <a:prstGeom prst="roundRect">
            <a:avLst>
              <a:gd name="adj" fmla="val 8000"/>
            </a:avLst>
          </a:prstGeom>
          <a:solidFill>
            <a:srgbClr val="F0F4F8">
              <a:alpha val="10000"/>
            </a:srgbClr>
          </a:solidFill>
          <a:ln w="12700">
            <a:solidFill>
              <a:srgbClr val="F0F4F8">
                <a:alpha val="15000"/>
              </a:srgbClr>
            </a:solidFill>
            <a:prstDash val="solid"/>
          </a:ln>
        </p:spPr>
      </p:sp>
      <p:sp>
        <p:nvSpPr>
          <p:cNvPr id="4" name="slides-field:Body"/>
          <p:cNvSpPr/>
          <p:nvPr/>
        </p:nvSpPr>
        <p:spPr>
          <a:xfrm>
            <a:off x="884225" y="2121408"/>
            <a:ext cx="104232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D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</a:t>
            </a:r>
            <a:pPr indent="0" marL="0">
              <a:buNone/>
            </a:pPr>
            <a:r>
              <a:rPr lang="en-US" sz="18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/api/v1/stock?almacen=S5&amp;limit=10</a:t>
            </a:r>
            <a:endParaRPr lang="en-US" sz="1800" dirty="0"/>
          </a:p>
        </p:txBody>
      </p:sp>
      <p:sp>
        <p:nvSpPr>
          <p:cNvPr id="5" name="deco-chip-1"/>
          <p:cNvSpPr/>
          <p:nvPr/>
        </p:nvSpPr>
        <p:spPr>
          <a:xfrm>
            <a:off x="609905" y="3886200"/>
            <a:ext cx="3437839" cy="2103120"/>
          </a:xfrm>
          <a:prstGeom prst="roundRect">
            <a:avLst>
              <a:gd name="adj" fmla="val 5217"/>
            </a:avLst>
          </a:prstGeom>
          <a:solidFill>
            <a:srgbClr val="F0F4F8">
              <a:alpha val="10000"/>
            </a:srgbClr>
          </a:solidFill>
          <a:ln w="12700">
            <a:solidFill>
              <a:srgbClr val="F0F4F8">
                <a:alpha val="15000"/>
              </a:srgbClr>
            </a:solidFill>
            <a:prstDash val="solid"/>
          </a:ln>
        </p:spPr>
      </p:sp>
      <p:sp>
        <p:nvSpPr>
          <p:cNvPr id="6" name="slides-field:Body"/>
          <p:cNvSpPr/>
          <p:nvPr/>
        </p:nvSpPr>
        <p:spPr>
          <a:xfrm>
            <a:off x="838505" y="4160520"/>
            <a:ext cx="29806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almacen=S5</a:t>
            </a:r>
            <a:endParaRPr lang="en-US" sz="1800" dirty="0"/>
          </a:p>
        </p:txBody>
      </p:sp>
      <p:sp>
        <p:nvSpPr>
          <p:cNvPr id="7" name="slides-field:Body"/>
          <p:cNvSpPr/>
          <p:nvPr/>
        </p:nvSpPr>
        <p:spPr>
          <a:xfrm>
            <a:off x="838505" y="4754880"/>
            <a:ext cx="29806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 la bodega</a:t>
            </a:r>
            <a:endParaRPr lang="en-US" sz="1200" dirty="0"/>
          </a:p>
        </p:txBody>
      </p:sp>
      <p:sp>
        <p:nvSpPr>
          <p:cNvPr id="8" name="deco-chip-2"/>
          <p:cNvSpPr/>
          <p:nvPr/>
        </p:nvSpPr>
        <p:spPr>
          <a:xfrm>
            <a:off x="4376928" y="3886200"/>
            <a:ext cx="3437839" cy="2103120"/>
          </a:xfrm>
          <a:prstGeom prst="roundRect">
            <a:avLst>
              <a:gd name="adj" fmla="val 5217"/>
            </a:avLst>
          </a:prstGeom>
          <a:solidFill>
            <a:srgbClr val="00D084"/>
          </a:solidFill>
          <a:ln w="12700">
            <a:solidFill>
              <a:srgbClr val="00D084"/>
            </a:solidFill>
            <a:prstDash val="solid"/>
          </a:ln>
        </p:spPr>
      </p:sp>
      <p:sp>
        <p:nvSpPr>
          <p:cNvPr id="9" name="slides-field:Body"/>
          <p:cNvSpPr/>
          <p:nvPr/>
        </p:nvSpPr>
        <p:spPr>
          <a:xfrm>
            <a:off x="4605528" y="4160520"/>
            <a:ext cx="29806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S*</a:t>
            </a:r>
            <a:endParaRPr lang="en-US" sz="1800" dirty="0"/>
          </a:p>
        </p:txBody>
      </p:sp>
      <p:sp>
        <p:nvSpPr>
          <p:cNvPr id="10" name="slides-field:Body"/>
          <p:cNvSpPr/>
          <p:nvPr/>
        </p:nvSpPr>
        <p:spPr>
          <a:xfrm>
            <a:off x="4605528" y="4754880"/>
            <a:ext cx="29806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fuente=todas: mergea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 + sucursales</a:t>
            </a:r>
            <a:endParaRPr lang="en-US" sz="1200" dirty="0"/>
          </a:p>
        </p:txBody>
      </p:sp>
      <p:sp>
        <p:nvSpPr>
          <p:cNvPr id="11" name="deco-chip-3"/>
          <p:cNvSpPr/>
          <p:nvPr/>
        </p:nvSpPr>
        <p:spPr>
          <a:xfrm>
            <a:off x="8143951" y="3886200"/>
            <a:ext cx="3437839" cy="2103120"/>
          </a:xfrm>
          <a:prstGeom prst="roundRect">
            <a:avLst>
              <a:gd name="adj" fmla="val 5217"/>
            </a:avLst>
          </a:prstGeom>
          <a:solidFill>
            <a:srgbClr val="F0F4F8">
              <a:alpha val="10000"/>
            </a:srgbClr>
          </a:solidFill>
          <a:ln w="12700">
            <a:solidFill>
              <a:srgbClr val="F0F4F8">
                <a:alpha val="15000"/>
              </a:srgbClr>
            </a:solidFill>
            <a:prstDash val="solid"/>
          </a:ln>
        </p:spPr>
      </p:sp>
      <p:sp>
        <p:nvSpPr>
          <p:cNvPr id="12" name="slides-field:Body"/>
          <p:cNvSpPr/>
          <p:nvPr/>
        </p:nvSpPr>
        <p:spPr>
          <a:xfrm>
            <a:off x="8372551" y="4160520"/>
            <a:ext cx="29806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limit=10</a:t>
            </a:r>
            <a:endParaRPr lang="en-US" sz="1800" dirty="0"/>
          </a:p>
        </p:txBody>
      </p:sp>
      <p:sp>
        <p:nvSpPr>
          <p:cNvPr id="13" name="slides-field:Body"/>
          <p:cNvSpPr/>
          <p:nvPr/>
        </p:nvSpPr>
        <p:spPr>
          <a:xfrm>
            <a:off x="8372551" y="4754880"/>
            <a:ext cx="29806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máximo de items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s-role:composed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s-lead:Title"/>
          <p:cNvSpPr/>
          <p:nvPr/>
        </p:nvSpPr>
        <p:spPr>
          <a:xfrm>
            <a:off x="609905" y="5486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SKU, todas sus bodegas</a:t>
            </a:r>
            <a:endParaRPr lang="en-US" sz="3200" dirty="0"/>
          </a:p>
        </p:txBody>
      </p:sp>
      <p:sp>
        <p:nvSpPr>
          <p:cNvPr id="3" name="deco-terminal"/>
          <p:cNvSpPr/>
          <p:nvPr/>
        </p:nvSpPr>
        <p:spPr>
          <a:xfrm>
            <a:off x="609905" y="1874520"/>
            <a:ext cx="10971886" cy="1371600"/>
          </a:xfrm>
          <a:prstGeom prst="roundRect">
            <a:avLst>
              <a:gd name="adj" fmla="val 8000"/>
            </a:avLst>
          </a:prstGeom>
          <a:solidFill>
            <a:srgbClr val="F0F4F8">
              <a:alpha val="10000"/>
            </a:srgbClr>
          </a:solidFill>
          <a:ln w="12700">
            <a:solidFill>
              <a:srgbClr val="F0F4F8">
                <a:alpha val="15000"/>
              </a:srgbClr>
            </a:solidFill>
            <a:prstDash val="solid"/>
          </a:ln>
        </p:spPr>
      </p:sp>
      <p:sp>
        <p:nvSpPr>
          <p:cNvPr id="4" name="slides-field:Body"/>
          <p:cNvSpPr/>
          <p:nvPr/>
        </p:nvSpPr>
        <p:spPr>
          <a:xfrm>
            <a:off x="884225" y="2121408"/>
            <a:ext cx="104232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D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</a:t>
            </a:r>
            <a:pPr indent="0" marL="0">
              <a:buNone/>
            </a:pPr>
            <a:r>
              <a:rPr lang="en-US" sz="18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/api/v1/stock/02217</a:t>
            </a:r>
            <a:endParaRPr lang="en-US" sz="1800" dirty="0"/>
          </a:p>
        </p:txBody>
      </p:sp>
      <p:sp>
        <p:nvSpPr>
          <p:cNvPr id="5" name="deco-stat-1"/>
          <p:cNvSpPr/>
          <p:nvPr/>
        </p:nvSpPr>
        <p:spPr>
          <a:xfrm>
            <a:off x="609905" y="3977640"/>
            <a:ext cx="5303063" cy="1920240"/>
          </a:xfrm>
          <a:prstGeom prst="roundRect">
            <a:avLst>
              <a:gd name="adj" fmla="val 5714"/>
            </a:avLst>
          </a:prstGeom>
          <a:solidFill>
            <a:srgbClr val="00D084"/>
          </a:solidFill>
          <a:ln w="12700">
            <a:solidFill>
              <a:srgbClr val="00D084"/>
            </a:solidFill>
            <a:prstDash val="solid"/>
          </a:ln>
        </p:spPr>
      </p:sp>
      <p:sp>
        <p:nvSpPr>
          <p:cNvPr id="6" name="slides-field:Body"/>
          <p:cNvSpPr/>
          <p:nvPr/>
        </p:nvSpPr>
        <p:spPr>
          <a:xfrm>
            <a:off x="838505" y="4251960"/>
            <a:ext cx="484586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63.400</a:t>
            </a:r>
            <a:endParaRPr lang="en-US" sz="1800" dirty="0"/>
          </a:p>
        </p:txBody>
      </p:sp>
      <p:sp>
        <p:nvSpPr>
          <p:cNvPr id="7" name="slides-field:Body"/>
          <p:cNvSpPr/>
          <p:nvPr/>
        </p:nvSpPr>
        <p:spPr>
          <a:xfrm>
            <a:off x="838505" y="5074920"/>
            <a:ext cx="484586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en VES</a:t>
            </a:r>
            <a:endParaRPr lang="en-US" sz="1200" dirty="0"/>
          </a:p>
        </p:txBody>
      </p:sp>
      <p:sp>
        <p:nvSpPr>
          <p:cNvPr id="8" name="deco-stat-2"/>
          <p:cNvSpPr/>
          <p:nvPr/>
        </p:nvSpPr>
        <p:spPr>
          <a:xfrm>
            <a:off x="6278728" y="3977640"/>
            <a:ext cx="5303063" cy="1920240"/>
          </a:xfrm>
          <a:prstGeom prst="roundRect">
            <a:avLst>
              <a:gd name="adj" fmla="val 5714"/>
            </a:avLst>
          </a:prstGeom>
          <a:solidFill>
            <a:srgbClr val="F0F4F8">
              <a:alpha val="10000"/>
            </a:srgbClr>
          </a:solidFill>
          <a:ln w="12700">
            <a:solidFill>
              <a:srgbClr val="F0F4F8">
                <a:alpha val="15000"/>
              </a:srgbClr>
            </a:solidFill>
            <a:prstDash val="solid"/>
          </a:ln>
        </p:spPr>
      </p:sp>
      <p:sp>
        <p:nvSpPr>
          <p:cNvPr id="9" name="slides-field:Body"/>
          <p:cNvSpPr/>
          <p:nvPr/>
        </p:nvSpPr>
        <p:spPr>
          <a:xfrm>
            <a:off x="6507328" y="4251960"/>
            <a:ext cx="484586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7.000</a:t>
            </a:r>
            <a:endParaRPr lang="en-US" sz="1800" dirty="0"/>
          </a:p>
        </p:txBody>
      </p:sp>
      <p:sp>
        <p:nvSpPr>
          <p:cNvPr id="10" name="slides-field:Body"/>
          <p:cNvSpPr/>
          <p:nvPr/>
        </p:nvSpPr>
        <p:spPr>
          <a:xfrm>
            <a:off x="6507328" y="5074920"/>
            <a:ext cx="484586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en 40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s-role:section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s-lead:Title"/>
          <p:cNvSpPr/>
          <p:nvPr/>
        </p:nvSpPr>
        <p:spPr>
          <a:xfrm>
            <a:off x="609905" y="5486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consultas de estado</a:t>
            </a:r>
            <a:endParaRPr lang="en-US" sz="3200" dirty="0"/>
          </a:p>
        </p:txBody>
      </p:sp>
      <p:sp>
        <p:nvSpPr>
          <p:cNvPr id="3" name="deco-card-1"/>
          <p:cNvSpPr/>
          <p:nvPr/>
        </p:nvSpPr>
        <p:spPr>
          <a:xfrm>
            <a:off x="609905" y="1965960"/>
            <a:ext cx="3413455" cy="3657600"/>
          </a:xfrm>
          <a:prstGeom prst="roundRect">
            <a:avLst>
              <a:gd name="adj" fmla="val 3215"/>
            </a:avLst>
          </a:prstGeom>
          <a:solidFill>
            <a:srgbClr val="00D084"/>
          </a:solidFill>
          <a:ln w="12700">
            <a:solidFill>
              <a:srgbClr val="00D084"/>
            </a:solidFill>
            <a:prstDash val="solid"/>
          </a:ln>
        </p:spPr>
      </p:sp>
      <p:sp>
        <p:nvSpPr>
          <p:cNvPr id="4" name="slides-field:Body"/>
          <p:cNvSpPr/>
          <p:nvPr/>
        </p:nvSpPr>
        <p:spPr>
          <a:xfrm>
            <a:off x="838505" y="2286000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/resumen</a:t>
            </a:r>
            <a:endParaRPr lang="en-US" sz="1800" dirty="0"/>
          </a:p>
        </p:txBody>
      </p:sp>
      <p:sp>
        <p:nvSpPr>
          <p:cNvPr id="5" name="slides-field:Body"/>
          <p:cNvSpPr/>
          <p:nvPr/>
        </p:nvSpPr>
        <p:spPr>
          <a:xfrm>
            <a:off x="838505" y="2971800"/>
            <a:ext cx="295625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KPIs: total de SKUs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almacenes con stock, predespachados</a:t>
            </a:r>
            <a:endParaRPr lang="en-US" sz="1200" dirty="0"/>
          </a:p>
        </p:txBody>
      </p:sp>
      <p:sp>
        <p:nvSpPr>
          <p:cNvPr id="6" name="deco-card-2"/>
          <p:cNvSpPr/>
          <p:nvPr/>
        </p:nvSpPr>
        <p:spPr>
          <a:xfrm>
            <a:off x="4389120" y="1965960"/>
            <a:ext cx="3413455" cy="3657600"/>
          </a:xfrm>
          <a:prstGeom prst="roundRect">
            <a:avLst>
              <a:gd name="adj" fmla="val 3215"/>
            </a:avLst>
          </a:prstGeom>
          <a:solidFill>
            <a:srgbClr val="F0F4F8">
              <a:alpha val="10000"/>
            </a:srgbClr>
          </a:solidFill>
          <a:ln w="12700">
            <a:solidFill>
              <a:srgbClr val="F0F4F8">
                <a:alpha val="15000"/>
              </a:srgbClr>
            </a:solidFill>
            <a:prstDash val="solid"/>
          </a:ln>
        </p:spPr>
      </p:sp>
      <p:sp>
        <p:nvSpPr>
          <p:cNvPr id="7" name="slides-field:Body"/>
          <p:cNvSpPr/>
          <p:nvPr/>
        </p:nvSpPr>
        <p:spPr>
          <a:xfrm>
            <a:off x="4617720" y="2286000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/health</a:t>
            </a:r>
            <a:endParaRPr lang="en-US" sz="1800" dirty="0"/>
          </a:p>
        </p:txBody>
      </p:sp>
      <p:sp>
        <p:nvSpPr>
          <p:cNvPr id="8" name="slides-field:Body"/>
          <p:cNvSpPr/>
          <p:nvPr/>
        </p:nvSpPr>
        <p:spPr>
          <a:xfrm>
            <a:off x="4617720" y="2971800"/>
            <a:ext cx="295625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 de última descarga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válido, n° de SKUs</a:t>
            </a:r>
            <a:endParaRPr lang="en-US" sz="1200" dirty="0"/>
          </a:p>
        </p:txBody>
      </p:sp>
      <p:sp>
        <p:nvSpPr>
          <p:cNvPr id="9" name="deco-card-3"/>
          <p:cNvSpPr/>
          <p:nvPr/>
        </p:nvSpPr>
        <p:spPr>
          <a:xfrm>
            <a:off x="8168335" y="1965960"/>
            <a:ext cx="3413455" cy="3657600"/>
          </a:xfrm>
          <a:prstGeom prst="roundRect">
            <a:avLst>
              <a:gd name="adj" fmla="val 3215"/>
            </a:avLst>
          </a:prstGeom>
          <a:solidFill>
            <a:srgbClr val="F0F4F8">
              <a:alpha val="10000"/>
            </a:srgbClr>
          </a:solidFill>
          <a:ln w="12700">
            <a:solidFill>
              <a:srgbClr val="F0F4F8">
                <a:alpha val="15000"/>
              </a:srgbClr>
            </a:solidFill>
            <a:prstDash val="solid"/>
          </a:ln>
        </p:spPr>
      </p:sp>
      <p:sp>
        <p:nvSpPr>
          <p:cNvPr id="10" name="slides-field:Body"/>
          <p:cNvSpPr/>
          <p:nvPr/>
        </p:nvSpPr>
        <p:spPr>
          <a:xfrm>
            <a:off x="8396935" y="2286000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/almacenes</a:t>
            </a:r>
            <a:endParaRPr lang="en-US" sz="1800" dirty="0"/>
          </a:p>
        </p:txBody>
      </p:sp>
      <p:sp>
        <p:nvSpPr>
          <p:cNvPr id="11" name="slides-field:Body"/>
          <p:cNvSpPr/>
          <p:nvPr/>
        </p:nvSpPr>
        <p:spPr>
          <a:xfrm>
            <a:off x="8396935" y="2971800"/>
            <a:ext cx="295625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por tipo: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 o mktd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s-role:composed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s-lead:Title"/>
          <p:cNvSpPr/>
          <p:nvPr/>
        </p:nvSpPr>
        <p:spPr>
          <a:xfrm>
            <a:off x="609905" y="5486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curl</a:t>
            </a:r>
            <a:endParaRPr lang="en-US" sz="3200" dirty="0"/>
          </a:p>
        </p:txBody>
      </p:sp>
      <p:sp>
        <p:nvSpPr>
          <p:cNvPr id="3" name="deco-terminal"/>
          <p:cNvSpPr/>
          <p:nvPr/>
        </p:nvSpPr>
        <p:spPr>
          <a:xfrm>
            <a:off x="609905" y="1965960"/>
            <a:ext cx="10971886" cy="3108960"/>
          </a:xfrm>
          <a:prstGeom prst="roundRect">
            <a:avLst>
              <a:gd name="adj" fmla="val 3529"/>
            </a:avLst>
          </a:prstGeom>
          <a:solidFill>
            <a:srgbClr val="F0F4F8">
              <a:alpha val="10000"/>
            </a:srgbClr>
          </a:solidFill>
          <a:ln w="12700">
            <a:solidFill>
              <a:srgbClr val="F0F4F8">
                <a:alpha val="15000"/>
              </a:srgbClr>
            </a:solidFill>
            <a:prstDash val="solid"/>
          </a:ln>
        </p:spPr>
      </p:sp>
      <p:sp>
        <p:nvSpPr>
          <p:cNvPr id="4" name="slides-field:Body"/>
          <p:cNvSpPr/>
          <p:nvPr/>
        </p:nvSpPr>
        <p:spPr>
          <a:xfrm>
            <a:off x="884225" y="2240280"/>
            <a:ext cx="10423246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D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 curl -H "x-api-key: &lt;clave&gt;"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D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</a:t>
            </a:r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/api/v1/stock?almacen=VES&amp;limit=5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D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$ curl -H "x-api-key: &lt;clave&gt;"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D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</a:t>
            </a:r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/api/v1/stock/02217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s-role:two-column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s-lead:Title"/>
          <p:cNvSpPr/>
          <p:nvPr/>
        </p:nvSpPr>
        <p:spPr>
          <a:xfrm>
            <a:off x="609905" y="5486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y Python</a:t>
            </a:r>
            <a:endParaRPr lang="en-US" sz="3200" dirty="0"/>
          </a:p>
        </p:txBody>
      </p:sp>
      <p:sp>
        <p:nvSpPr>
          <p:cNvPr id="3" name="deco-panel-1"/>
          <p:cNvSpPr/>
          <p:nvPr/>
        </p:nvSpPr>
        <p:spPr>
          <a:xfrm>
            <a:off x="609905" y="1874520"/>
            <a:ext cx="5211623" cy="3749040"/>
          </a:xfrm>
          <a:prstGeom prst="roundRect">
            <a:avLst>
              <a:gd name="adj" fmla="val 2927"/>
            </a:avLst>
          </a:prstGeom>
          <a:solidFill>
            <a:srgbClr val="F0F4F8">
              <a:alpha val="10000"/>
            </a:srgbClr>
          </a:solidFill>
          <a:ln w="12700">
            <a:solidFill>
              <a:srgbClr val="F0F4F8">
                <a:alpha val="15000"/>
              </a:srgbClr>
            </a:solidFill>
            <a:prstDash val="solid"/>
          </a:ln>
        </p:spPr>
      </p:sp>
      <p:sp>
        <p:nvSpPr>
          <p:cNvPr id="4" name="slides-field:Left"/>
          <p:cNvSpPr/>
          <p:nvPr/>
        </p:nvSpPr>
        <p:spPr>
          <a:xfrm>
            <a:off x="884225" y="2148840"/>
            <a:ext cx="46629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D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· fetch</a:t>
            </a:r>
            <a:endParaRPr lang="en-US" sz="1800" dirty="0"/>
          </a:p>
        </p:txBody>
      </p:sp>
      <p:sp>
        <p:nvSpPr>
          <p:cNvPr id="5" name="slides-field:Left"/>
          <p:cNvSpPr/>
          <p:nvPr/>
        </p:nvSpPr>
        <p:spPr>
          <a:xfrm>
            <a:off x="884225" y="2743200"/>
            <a:ext cx="4662983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 r = await fetch(BASE + '/stock',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headers: { 'X-API-Key': KEY } });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 data = await r.json();</a:t>
            </a:r>
            <a:endParaRPr lang="en-US" sz="1200" dirty="0"/>
          </a:p>
        </p:txBody>
      </p:sp>
      <p:sp>
        <p:nvSpPr>
          <p:cNvPr id="6" name="deco-panel-2"/>
          <p:cNvSpPr/>
          <p:nvPr/>
        </p:nvSpPr>
        <p:spPr>
          <a:xfrm>
            <a:off x="6370168" y="1874520"/>
            <a:ext cx="5211623" cy="3749040"/>
          </a:xfrm>
          <a:prstGeom prst="roundRect">
            <a:avLst>
              <a:gd name="adj" fmla="val 2927"/>
            </a:avLst>
          </a:prstGeom>
          <a:solidFill>
            <a:srgbClr val="F0F4F8">
              <a:alpha val="10000"/>
            </a:srgbClr>
          </a:solidFill>
          <a:ln w="12700">
            <a:solidFill>
              <a:srgbClr val="F0F4F8">
                <a:alpha val="15000"/>
              </a:srgbClr>
            </a:solidFill>
            <a:prstDash val="solid"/>
          </a:ln>
        </p:spPr>
      </p:sp>
      <p:sp>
        <p:nvSpPr>
          <p:cNvPr id="7" name="slides-field:Left"/>
          <p:cNvSpPr/>
          <p:nvPr/>
        </p:nvSpPr>
        <p:spPr>
          <a:xfrm>
            <a:off x="6644488" y="2148840"/>
            <a:ext cx="46629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D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requests</a:t>
            </a:r>
            <a:endParaRPr lang="en-US" sz="1800" dirty="0"/>
          </a:p>
        </p:txBody>
      </p:sp>
      <p:sp>
        <p:nvSpPr>
          <p:cNvPr id="8" name="slides-field:Right"/>
          <p:cNvSpPr/>
          <p:nvPr/>
        </p:nvSpPr>
        <p:spPr>
          <a:xfrm>
            <a:off x="6644488" y="2743200"/>
            <a:ext cx="4662983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requests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requests.get(BASE + '/stock',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params=ps,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headers={'X-API-Key': KEY})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print(r.json())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s-role:composed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s-lead:Title"/>
          <p:cNvSpPr/>
          <p:nvPr/>
        </p:nvSpPr>
        <p:spPr>
          <a:xfrm>
            <a:off x="609905" y="5486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disponibles</a:t>
            </a:r>
            <a:endParaRPr lang="en-US" sz="3200" dirty="0"/>
          </a:p>
        </p:txBody>
      </p:sp>
      <p:graphicFrame>
        <p:nvGraphicFramePr>
          <p:cNvPr id="12" name="slides-field:Body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920240"/>
          <a:ext cx="10971886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5486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08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Ejemplo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08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filtra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08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almacen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D0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?almacen=S5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almacén, auto-detecta sucursales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D0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?search=crackcito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SKU o descripción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D0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?linea=PELOTAS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ID (01) o nombre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D0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?categoria=VINIFAN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VINIBALL, VINIFAN, industrial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D0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?tipo=mktd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venta o mktd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D0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?fuente=todas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general, sucursales o todas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D0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?limit=50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 5000 items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s-role:composed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s-lead:Title"/>
          <p:cNvSpPr/>
          <p:nvPr/>
        </p:nvSpPr>
        <p:spPr>
          <a:xfrm>
            <a:off x="609905" y="5486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ficha de un SKU</a:t>
            </a:r>
            <a:endParaRPr lang="en-US" sz="3200" dirty="0"/>
          </a:p>
        </p:txBody>
      </p:sp>
      <p:graphicFrame>
        <p:nvGraphicFramePr>
          <p:cNvPr id="13" name="slides-field:Body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920240"/>
          <a:ext cx="10971886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5486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08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Ejemplo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08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08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D0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02217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 del producto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descripcion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D0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FORRO N VINIFAN OFICIO CRISTAL 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nombre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almacenes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D0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VES 63.400 · 40 7.000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 por bodega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D0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 de venta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ean13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D0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7754807020015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 de barras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un_bx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D0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unidades por caja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sin_catalogo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D0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fuera del catálogo maestral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s-role:composed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s-lead:Title"/>
          <p:cNvSpPr/>
          <p:nvPr/>
        </p:nvSpPr>
        <p:spPr>
          <a:xfrm>
            <a:off x="609905" y="5486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Almacenes disponibles</a:t>
            </a:r>
            <a:endParaRPr lang="en-US" sz="3200" dirty="0"/>
          </a:p>
        </p:txBody>
      </p:sp>
      <p:sp>
        <p:nvSpPr>
          <p:cNvPr id="3" name="deco-panel-1"/>
          <p:cNvSpPr/>
          <p:nvPr/>
        </p:nvSpPr>
        <p:spPr>
          <a:xfrm>
            <a:off x="609905" y="1965960"/>
            <a:ext cx="5211623" cy="3657600"/>
          </a:xfrm>
          <a:prstGeom prst="roundRect">
            <a:avLst>
              <a:gd name="adj" fmla="val 3000"/>
            </a:avLst>
          </a:prstGeom>
          <a:solidFill>
            <a:srgbClr val="00D084"/>
          </a:solidFill>
          <a:ln w="12700">
            <a:solidFill>
              <a:srgbClr val="00D084"/>
            </a:solidFill>
            <a:prstDash val="solid"/>
          </a:ln>
        </p:spPr>
      </p:sp>
      <p:sp>
        <p:nvSpPr>
          <p:cNvPr id="4" name="slides-field:Body"/>
          <p:cNvSpPr/>
          <p:nvPr/>
        </p:nvSpPr>
        <p:spPr>
          <a:xfrm>
            <a:off x="884225" y="2286000"/>
            <a:ext cx="46629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</a:t>
            </a:r>
            <a:endParaRPr lang="en-US" sz="1800" dirty="0"/>
          </a:p>
        </p:txBody>
      </p:sp>
      <p:sp>
        <p:nvSpPr>
          <p:cNvPr id="5" name="slides-field:Body"/>
          <p:cNvSpPr/>
          <p:nvPr/>
        </p:nvSpPr>
        <p:spPr>
          <a:xfrm>
            <a:off x="884225" y="3017520"/>
            <a:ext cx="4662983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VES, 40, 92, 106, 121, 122, 129</a:t>
            </a:r>
            <a:endParaRPr lang="en-US" sz="1200" dirty="0"/>
          </a:p>
        </p:txBody>
      </p:sp>
      <p:sp>
        <p:nvSpPr>
          <p:cNvPr id="6" name="deco-panel-2"/>
          <p:cNvSpPr/>
          <p:nvPr/>
        </p:nvSpPr>
        <p:spPr>
          <a:xfrm>
            <a:off x="6370168" y="1965960"/>
            <a:ext cx="5211623" cy="3657600"/>
          </a:xfrm>
          <a:prstGeom prst="roundRect">
            <a:avLst>
              <a:gd name="adj" fmla="val 3000"/>
            </a:avLst>
          </a:prstGeom>
          <a:solidFill>
            <a:srgbClr val="F0F4F8">
              <a:alpha val="10000"/>
            </a:srgbClr>
          </a:solidFill>
          <a:ln w="12700">
            <a:solidFill>
              <a:srgbClr val="F0F4F8">
                <a:alpha val="15000"/>
              </a:srgbClr>
            </a:solidFill>
            <a:prstDash val="solid"/>
          </a:ln>
        </p:spPr>
      </p:sp>
      <p:sp>
        <p:nvSpPr>
          <p:cNvPr id="7" name="slides-field:Body"/>
          <p:cNvSpPr/>
          <p:nvPr/>
        </p:nvSpPr>
        <p:spPr>
          <a:xfrm>
            <a:off x="6644488" y="2286000"/>
            <a:ext cx="46629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800" dirty="0"/>
          </a:p>
        </p:txBody>
      </p:sp>
      <p:sp>
        <p:nvSpPr>
          <p:cNvPr id="8" name="slides-field:Body"/>
          <p:cNvSpPr/>
          <p:nvPr/>
        </p:nvSpPr>
        <p:spPr>
          <a:xfrm>
            <a:off x="6644488" y="3017520"/>
            <a:ext cx="4662983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118, S1, S2, S3, S5, S6, S9, S11, S13, S14, S15, S16, S17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s-role:composed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s-field:Title"/>
          <p:cNvSpPr/>
          <p:nvPr/>
        </p:nvSpPr>
        <p:spPr>
          <a:xfrm>
            <a:off x="609905" y="5486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escribir código</a:t>
            </a:r>
            <a:endParaRPr lang="en-US" sz="1800" dirty="0"/>
          </a:p>
        </p:txBody>
      </p:sp>
      <p:sp>
        <p:nvSpPr>
          <p:cNvPr id="3" name="deco-stat-1"/>
          <p:cNvSpPr/>
          <p:nvPr/>
        </p:nvSpPr>
        <p:spPr>
          <a:xfrm>
            <a:off x="609905" y="1828800"/>
            <a:ext cx="2496083" cy="3291840"/>
          </a:xfrm>
          <a:prstGeom prst="roundRect">
            <a:avLst>
              <a:gd name="adj" fmla="val 4396"/>
            </a:avLst>
          </a:prstGeom>
          <a:solidFill>
            <a:srgbClr val="00D084"/>
          </a:solidFill>
          <a:ln w="12700">
            <a:solidFill>
              <a:srgbClr val="00D084"/>
            </a:solidFill>
            <a:prstDash val="solid"/>
          </a:ln>
        </p:spPr>
      </p:sp>
      <p:sp>
        <p:nvSpPr>
          <p:cNvPr id="4" name="slides-lead"/>
          <p:cNvSpPr/>
          <p:nvPr/>
        </p:nvSpPr>
        <p:spPr>
          <a:xfrm>
            <a:off x="792785" y="2194560"/>
            <a:ext cx="2130323" cy="1554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7200" dirty="0"/>
          </a:p>
        </p:txBody>
      </p:sp>
      <p:sp>
        <p:nvSpPr>
          <p:cNvPr id="5" name="slides-field:Body"/>
          <p:cNvSpPr/>
          <p:nvPr/>
        </p:nvSpPr>
        <p:spPr>
          <a:xfrm>
            <a:off x="838505" y="3931920"/>
            <a:ext cx="203888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por minuto por IP</a:t>
            </a:r>
            <a:endParaRPr lang="en-US" sz="1200" dirty="0"/>
          </a:p>
        </p:txBody>
      </p:sp>
      <p:sp>
        <p:nvSpPr>
          <p:cNvPr id="6" name="deco-stat-2"/>
          <p:cNvSpPr/>
          <p:nvPr/>
        </p:nvSpPr>
        <p:spPr>
          <a:xfrm>
            <a:off x="3435172" y="1828800"/>
            <a:ext cx="2496083" cy="3291840"/>
          </a:xfrm>
          <a:prstGeom prst="roundRect">
            <a:avLst>
              <a:gd name="adj" fmla="val 4396"/>
            </a:avLst>
          </a:prstGeom>
          <a:solidFill>
            <a:srgbClr val="F0F4F8">
              <a:alpha val="10000"/>
            </a:srgbClr>
          </a:solidFill>
          <a:ln w="12700">
            <a:solidFill>
              <a:srgbClr val="F0F4F8">
                <a:alpha val="15000"/>
              </a:srgbClr>
            </a:solidFill>
            <a:prstDash val="solid"/>
          </a:ln>
        </p:spPr>
      </p:sp>
      <p:sp>
        <p:nvSpPr>
          <p:cNvPr id="7" name="slides-field:Body"/>
          <p:cNvSpPr/>
          <p:nvPr/>
        </p:nvSpPr>
        <p:spPr>
          <a:xfrm>
            <a:off x="3618052" y="2194560"/>
            <a:ext cx="2130323" cy="1554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3200" dirty="0"/>
          </a:p>
        </p:txBody>
      </p:sp>
      <p:sp>
        <p:nvSpPr>
          <p:cNvPr id="8" name="slides-field:Body"/>
          <p:cNvSpPr/>
          <p:nvPr/>
        </p:nvSpPr>
        <p:spPr>
          <a:xfrm>
            <a:off x="3663772" y="3931920"/>
            <a:ext cx="203888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del cache de stock</a:t>
            </a:r>
            <a:endParaRPr lang="en-US" sz="1200" dirty="0"/>
          </a:p>
        </p:txBody>
      </p:sp>
      <p:sp>
        <p:nvSpPr>
          <p:cNvPr id="9" name="deco-stat-3"/>
          <p:cNvSpPr/>
          <p:nvPr/>
        </p:nvSpPr>
        <p:spPr>
          <a:xfrm>
            <a:off x="6260440" y="1828800"/>
            <a:ext cx="2496083" cy="3291840"/>
          </a:xfrm>
          <a:prstGeom prst="roundRect">
            <a:avLst>
              <a:gd name="adj" fmla="val 4396"/>
            </a:avLst>
          </a:prstGeom>
          <a:solidFill>
            <a:srgbClr val="F0F4F8">
              <a:alpha val="10000"/>
            </a:srgbClr>
          </a:solidFill>
          <a:ln w="12700">
            <a:solidFill>
              <a:srgbClr val="F0F4F8">
                <a:alpha val="15000"/>
              </a:srgbClr>
            </a:solidFill>
            <a:prstDash val="solid"/>
          </a:ln>
        </p:spPr>
      </p:sp>
      <p:sp>
        <p:nvSpPr>
          <p:cNvPr id="10" name="slides-field:Body"/>
          <p:cNvSpPr/>
          <p:nvPr/>
        </p:nvSpPr>
        <p:spPr>
          <a:xfrm>
            <a:off x="6443320" y="2194560"/>
            <a:ext cx="2130323" cy="1554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cache_expirado</a:t>
            </a:r>
            <a:endParaRPr lang="en-US" sz="3200" dirty="0"/>
          </a:p>
        </p:txBody>
      </p:sp>
      <p:sp>
        <p:nvSpPr>
          <p:cNvPr id="11" name="slides-field:Body"/>
          <p:cNvSpPr/>
          <p:nvPr/>
        </p:nvSpPr>
        <p:spPr>
          <a:xfrm>
            <a:off x="6489040" y="3931920"/>
            <a:ext cx="203888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= datos desactualizados</a:t>
            </a:r>
            <a:endParaRPr lang="en-US" sz="1200" dirty="0"/>
          </a:p>
        </p:txBody>
      </p:sp>
      <p:sp>
        <p:nvSpPr>
          <p:cNvPr id="12" name="deco-stat-4"/>
          <p:cNvSpPr/>
          <p:nvPr/>
        </p:nvSpPr>
        <p:spPr>
          <a:xfrm>
            <a:off x="9085707" y="1828800"/>
            <a:ext cx="2496083" cy="3291840"/>
          </a:xfrm>
          <a:prstGeom prst="roundRect">
            <a:avLst>
              <a:gd name="adj" fmla="val 4396"/>
            </a:avLst>
          </a:prstGeom>
          <a:solidFill>
            <a:srgbClr val="F0F4F8">
              <a:alpha val="10000"/>
            </a:srgbClr>
          </a:solidFill>
          <a:ln w="12700">
            <a:solidFill>
              <a:srgbClr val="F0F4F8">
                <a:alpha val="15000"/>
              </a:srgbClr>
            </a:solidFill>
            <a:prstDash val="solid"/>
          </a:ln>
        </p:spPr>
      </p:sp>
      <p:sp>
        <p:nvSpPr>
          <p:cNvPr id="13" name="slides-field:Body"/>
          <p:cNvSpPr/>
          <p:nvPr/>
        </p:nvSpPr>
        <p:spPr>
          <a:xfrm>
            <a:off x="9268587" y="2194560"/>
            <a:ext cx="2130323" cy="1554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Lun-Sáb 7:00-22:59</a:t>
            </a:r>
            <a:endParaRPr lang="en-US" sz="3200" dirty="0"/>
          </a:p>
        </p:txBody>
      </p:sp>
      <p:sp>
        <p:nvSpPr>
          <p:cNvPr id="14" name="slides-field:Body"/>
          <p:cNvSpPr/>
          <p:nvPr/>
        </p:nvSpPr>
        <p:spPr>
          <a:xfrm>
            <a:off x="9314307" y="3931920"/>
            <a:ext cx="203888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actualización, hora Lima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s-role:title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s-lead:Title"/>
          <p:cNvSpPr/>
          <p:nvPr/>
        </p:nvSpPr>
        <p:spPr>
          <a:xfrm>
            <a:off x="609905" y="1554480"/>
            <a:ext cx="6583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consultar</a:t>
            </a:r>
            <a:endParaRPr lang="en-US" sz="4800" dirty="0"/>
          </a:p>
        </p:txBody>
      </p:sp>
      <p:sp>
        <p:nvSpPr>
          <p:cNvPr id="3" name="slides-field:Subtitle"/>
          <p:cNvSpPr/>
          <p:nvPr/>
        </p:nvSpPr>
        <p:spPr>
          <a:xfrm>
            <a:off x="609905" y="3840480"/>
            <a:ext cx="676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/docs · Repositorio github.com/carloscus/g360-stock-api · v1.4.0</a:t>
            </a:r>
            <a:endParaRPr lang="en-US" sz="1800" dirty="0"/>
          </a:p>
        </p:txBody>
      </p:sp>
      <p:sp>
        <p:nvSpPr>
          <p:cNvPr id="4" name="deco-terminal-close"/>
          <p:cNvSpPr/>
          <p:nvPr/>
        </p:nvSpPr>
        <p:spPr>
          <a:xfrm>
            <a:off x="7955280" y="2240280"/>
            <a:ext cx="3291840" cy="1737360"/>
          </a:xfrm>
          <a:prstGeom prst="roundRect">
            <a:avLst>
              <a:gd name="adj" fmla="val 6316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5" name="deco-terminal-text"/>
          <p:cNvSpPr/>
          <p:nvPr/>
        </p:nvSpPr>
        <p:spPr>
          <a:xfrm>
            <a:off x="8211312" y="2468880"/>
            <a:ext cx="27797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D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</a:t>
            </a:r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/api/v1/stock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elsewhere: consultar /docs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2026-09-19T22:16:55Z</dcterms:created>
  <dcterms:modified xsi:type="dcterms:W3CDTF">2026-09-19T22:16:55Z</dcterms:modified>
  <dc:description>slides-spec: manual_api_equipo.deck.md sha256:476bba02c1b4f77ad2456542a490b6b3453e2f6e0080e455b8530bf6a50c05eb</dc:description>
</cp:coreProperties>
</file>