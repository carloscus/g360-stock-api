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cada app consultaba el ERP directamente. Ahora hay una API centralizada que sirve stock enriquecido a todo el ecosistema.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Documentación interactiva en /docs · Versión 1.7.0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172009"/>
            <a:ext cx="670560" cy="508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s-field:Title"/>
          <p:cNvSpPr txBox="1"/>
          <p:nvPr/>
        </p:nvSpPr>
        <p:spPr>
          <a:xfrm>
            <a:off x="609600" y="2405231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0">
                <a:solidFill>
                  <a:srgbClr val="000000"/>
                </a:solidFill>
              </a:rPr>
              <a:t>g360-stock-api</a:t>
            </a:r>
          </a:p>
        </p:txBody>
      </p:sp>
      <p:sp>
        <p:nvSpPr>
          <p:cNvPr id="4" name="slides-field:Subtitle"/>
          <p:cNvSpPr txBox="1"/>
          <p:nvPr/>
        </p:nvSpPr>
        <p:spPr>
          <a:xfrm>
            <a:off x="609600" y="395948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F8FAFC"/>
                </a:solidFill>
              </a:rPr>
              <a:t>API REST para datos de stock · Ecosistema G360 · CIPSA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stateme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field:Statement"/>
          <p:cNvSpPr txBox="1"/>
          <p:nvPr/>
        </p:nvSpPr>
        <p:spPr>
          <a:xfrm>
            <a:off x="609600" y="1824228"/>
            <a:ext cx="109728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00">
                <a:solidFill>
                  <a:srgbClr val="FFFFFF"/>
                </a:solidFill>
              </a:rPr>
              <a:t>Un solo punto de verdad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title-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48640"/>
            <a:ext cx="670560" cy="508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1985249"/>
            <a:ext cx="10972800" cy="0"/>
          </a:xfrm>
          <a:prstGeom prst="bentConnector3">
            <a:avLst/>
          </a:prstGeom>
          <a:ln w="1270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600" y="2442220"/>
            <a:ext cx="10972800" cy="0"/>
          </a:xfrm>
          <a:prstGeom prst="bentConnector3">
            <a:avLst/>
          </a:prstGeom>
          <a:ln w="1270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600" y="2899191"/>
            <a:ext cx="10972800" cy="0"/>
          </a:xfrm>
          <a:prstGeom prst="bentConnector3">
            <a:avLst/>
          </a:prstGeom>
          <a:ln w="1270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s-field:Title"/>
          <p:cNvSpPr txBox="1"/>
          <p:nvPr/>
        </p:nvSpPr>
        <p:spPr>
          <a:xfrm>
            <a:off x="609600" y="781862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00000"/>
                </a:solidFill>
              </a:rPr>
              <a:t>El problema</a:t>
            </a:r>
          </a:p>
        </p:txBody>
      </p:sp>
      <p:sp>
        <p:nvSpPr>
          <p:cNvPr id="7" name="slides-field:Body"/>
          <p:cNvSpPr txBox="1"/>
          <p:nvPr/>
        </p:nvSpPr>
        <p:spPr>
          <a:xfrm>
            <a:off x="609600" y="15738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Reportes de stock dispersos en el ERP</a:t>
            </a:r>
          </a:p>
        </p:txBody>
      </p:sp>
      <p:sp>
        <p:nvSpPr>
          <p:cNvPr id="8" name="slides-field:Body"/>
          <p:cNvSpPr txBox="1"/>
          <p:nvPr/>
        </p:nvSpPr>
        <p:spPr>
          <a:xfrm>
            <a:off x="609600" y="2030855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Cada app hacía sus propias consultas</a:t>
            </a:r>
          </a:p>
        </p:txBody>
      </p:sp>
      <p:sp>
        <p:nvSpPr>
          <p:cNvPr id="9" name="slides-field:Body"/>
          <p:cNvSpPr txBox="1"/>
          <p:nvPr/>
        </p:nvSpPr>
        <p:spPr>
          <a:xfrm>
            <a:off x="609600" y="248782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Sin consistencia entre consumidores</a:t>
            </a:r>
          </a:p>
        </p:txBody>
      </p:sp>
      <p:sp>
        <p:nvSpPr>
          <p:cNvPr id="10" name="slides-field:Body"/>
          <p:cNvSpPr txBox="1"/>
          <p:nvPr/>
        </p:nvSpPr>
        <p:spPr>
          <a:xfrm>
            <a:off x="609600" y="2944797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Sin performance optimizada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title-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48640"/>
            <a:ext cx="670560" cy="508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s-field:Title"/>
          <p:cNvSpPr txBox="1"/>
          <p:nvPr/>
        </p:nvSpPr>
        <p:spPr>
          <a:xfrm>
            <a:off x="609600" y="781862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00000"/>
                </a:solidFill>
              </a:rPr>
              <a:t>La solución</a:t>
            </a:r>
          </a:p>
        </p:txBody>
      </p:sp>
      <p:sp>
        <p:nvSpPr>
          <p:cNvPr id="4" name="slides-field:Body"/>
          <p:cNvSpPr txBox="1"/>
          <p:nvPr/>
        </p:nvSpPr>
        <p:spPr>
          <a:xfrm>
            <a:off x="609600" y="1573884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Una API REST que centraliza el stock, lo enriquece con el catálogo maestro y lo sirve a todas las apps del ecosistema.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block:process:0"/>
          <p:cNvSpPr/>
          <p:nvPr/>
        </p:nvSpPr>
        <p:spPr>
          <a:xfrm>
            <a:off x="609600" y="2488281"/>
            <a:ext cx="2031675" cy="241843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s-block:process:0"/>
          <p:cNvSpPr/>
          <p:nvPr/>
        </p:nvSpPr>
        <p:spPr>
          <a:xfrm>
            <a:off x="2844881" y="2488281"/>
            <a:ext cx="2031675" cy="241843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s-block:process:0"/>
          <p:cNvSpPr/>
          <p:nvPr/>
        </p:nvSpPr>
        <p:spPr>
          <a:xfrm>
            <a:off x="5080162" y="2488281"/>
            <a:ext cx="2031675" cy="241843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s-block:process:0"/>
          <p:cNvSpPr/>
          <p:nvPr/>
        </p:nvSpPr>
        <p:spPr>
          <a:xfrm>
            <a:off x="7315443" y="2488281"/>
            <a:ext cx="2031675" cy="241843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s-block:process:0"/>
          <p:cNvSpPr/>
          <p:nvPr/>
        </p:nvSpPr>
        <p:spPr>
          <a:xfrm>
            <a:off x="9550724" y="2488281"/>
            <a:ext cx="2031676" cy="241843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ides-block:process:0"/>
          <p:cNvSpPr/>
          <p:nvPr/>
        </p:nvSpPr>
        <p:spPr>
          <a:xfrm>
            <a:off x="2675209" y="3331738"/>
            <a:ext cx="135738" cy="73152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lides-block:process:0"/>
          <p:cNvSpPr/>
          <p:nvPr/>
        </p:nvSpPr>
        <p:spPr>
          <a:xfrm>
            <a:off x="4910490" y="3331738"/>
            <a:ext cx="135738" cy="73152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lides-block:process:0"/>
          <p:cNvSpPr/>
          <p:nvPr/>
        </p:nvSpPr>
        <p:spPr>
          <a:xfrm>
            <a:off x="7145771" y="3331738"/>
            <a:ext cx="135738" cy="73152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lides-block:process:0"/>
          <p:cNvSpPr/>
          <p:nvPr/>
        </p:nvSpPr>
        <p:spPr>
          <a:xfrm>
            <a:off x="9381052" y="3331738"/>
            <a:ext cx="135738" cy="73152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00000"/>
                </a:solidFill>
              </a:rPr>
              <a:t>Arquitectura</a:t>
            </a:r>
          </a:p>
        </p:txBody>
      </p:sp>
      <p:sp>
        <p:nvSpPr>
          <p:cNvPr id="12" name="slides-block:process:0"/>
          <p:cNvSpPr txBox="1"/>
          <p:nvPr/>
        </p:nvSpPr>
        <p:spPr>
          <a:xfrm>
            <a:off x="813206" y="2691887"/>
            <a:ext cx="1624463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slides-block:process:0"/>
          <p:cNvSpPr txBox="1"/>
          <p:nvPr/>
        </p:nvSpPr>
        <p:spPr>
          <a:xfrm>
            <a:off x="813206" y="3392698"/>
            <a:ext cx="162446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00000"/>
                </a:solidFill>
              </a:rPr>
              <a:t>ERP (appweb)</a:t>
            </a:r>
          </a:p>
        </p:txBody>
      </p:sp>
      <p:sp>
        <p:nvSpPr>
          <p:cNvPr id="14" name="slides-block:process:0"/>
          <p:cNvSpPr txBox="1"/>
          <p:nvPr/>
        </p:nvSpPr>
        <p:spPr>
          <a:xfrm>
            <a:off x="813206" y="4215429"/>
            <a:ext cx="1624463" cy="48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</a:rPr>
              <a:t>Reportes XLS</a:t>
            </a:r>
          </a:p>
        </p:txBody>
      </p:sp>
      <p:sp>
        <p:nvSpPr>
          <p:cNvPr id="15" name="slides-block:process:0"/>
          <p:cNvSpPr txBox="1"/>
          <p:nvPr/>
        </p:nvSpPr>
        <p:spPr>
          <a:xfrm>
            <a:off x="3048487" y="2691887"/>
            <a:ext cx="1624463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6" name="slides-block:process:0"/>
          <p:cNvSpPr txBox="1"/>
          <p:nvPr/>
        </p:nvSpPr>
        <p:spPr>
          <a:xfrm>
            <a:off x="3048487" y="3392698"/>
            <a:ext cx="162446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00000"/>
                </a:solidFill>
              </a:rPr>
              <a:t>↓</a:t>
            </a:r>
          </a:p>
        </p:txBody>
      </p:sp>
      <p:sp>
        <p:nvSpPr>
          <p:cNvPr id="17" name="slides-block:process:0"/>
          <p:cNvSpPr txBox="1"/>
          <p:nvPr/>
        </p:nvSpPr>
        <p:spPr>
          <a:xfrm>
            <a:off x="5283768" y="2691887"/>
            <a:ext cx="1624463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8" name="slides-block:process:0"/>
          <p:cNvSpPr txBox="1"/>
          <p:nvPr/>
        </p:nvSpPr>
        <p:spPr>
          <a:xfrm>
            <a:off x="5283768" y="3392698"/>
            <a:ext cx="162446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00000"/>
                </a:solidFill>
              </a:rPr>
              <a:t>Stock API</a:t>
            </a:r>
          </a:p>
        </p:txBody>
      </p:sp>
      <p:sp>
        <p:nvSpPr>
          <p:cNvPr id="19" name="slides-block:process:0"/>
          <p:cNvSpPr txBox="1"/>
          <p:nvPr/>
        </p:nvSpPr>
        <p:spPr>
          <a:xfrm>
            <a:off x="5283768" y="4215429"/>
            <a:ext cx="1624463" cy="48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</a:rPr>
              <a:t>FastAPI + Uvicorn</a:t>
            </a:r>
          </a:p>
        </p:txBody>
      </p:sp>
      <p:sp>
        <p:nvSpPr>
          <p:cNvPr id="20" name="slides-block:process:0"/>
          <p:cNvSpPr txBox="1"/>
          <p:nvPr/>
        </p:nvSpPr>
        <p:spPr>
          <a:xfrm>
            <a:off x="7519049" y="2691887"/>
            <a:ext cx="1624463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1" name="slides-block:process:0"/>
          <p:cNvSpPr txBox="1"/>
          <p:nvPr/>
        </p:nvSpPr>
        <p:spPr>
          <a:xfrm>
            <a:off x="7519049" y="3392698"/>
            <a:ext cx="162446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00000"/>
                </a:solidFill>
              </a:rPr>
              <a:t>↓</a:t>
            </a:r>
          </a:p>
        </p:txBody>
      </p:sp>
      <p:sp>
        <p:nvSpPr>
          <p:cNvPr id="22" name="slides-block:process:0"/>
          <p:cNvSpPr txBox="1"/>
          <p:nvPr/>
        </p:nvSpPr>
        <p:spPr>
          <a:xfrm>
            <a:off x="9754330" y="2691887"/>
            <a:ext cx="1624464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23" name="slides-block:process:0"/>
          <p:cNvSpPr txBox="1"/>
          <p:nvPr/>
        </p:nvSpPr>
        <p:spPr>
          <a:xfrm>
            <a:off x="9754330" y="3392698"/>
            <a:ext cx="162446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00000"/>
                </a:solidFill>
              </a:rPr>
              <a:t>Consumidores</a:t>
            </a:r>
          </a:p>
        </p:txBody>
      </p:sp>
      <p:sp>
        <p:nvSpPr>
          <p:cNvPr id="24" name="slides-block:process:0"/>
          <p:cNvSpPr txBox="1"/>
          <p:nvPr/>
        </p:nvSpPr>
        <p:spPr>
          <a:xfrm>
            <a:off x="9754330" y="4215429"/>
            <a:ext cx="1624464" cy="48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</a:rPr>
              <a:t>Dashboard, reportes, apps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block:card-grid:0"/>
          <p:cNvSpPr/>
          <p:nvPr/>
        </p:nvSpPr>
        <p:spPr>
          <a:xfrm>
            <a:off x="609600" y="2474462"/>
            <a:ext cx="3521862" cy="24491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s-block:card-grid:0"/>
          <p:cNvSpPr/>
          <p:nvPr/>
        </p:nvSpPr>
        <p:spPr>
          <a:xfrm>
            <a:off x="4335068" y="2474462"/>
            <a:ext cx="3521862" cy="24491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s-block:card-grid:0"/>
          <p:cNvSpPr/>
          <p:nvPr/>
        </p:nvSpPr>
        <p:spPr>
          <a:xfrm>
            <a:off x="8060536" y="2474462"/>
            <a:ext cx="3521864" cy="24491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00000"/>
                </a:solidFill>
              </a:rPr>
              <a:t>Fuentes de datos</a:t>
            </a:r>
          </a:p>
        </p:txBody>
      </p:sp>
      <p:sp>
        <p:nvSpPr>
          <p:cNvPr id="6" name="slides-block:card-grid:0"/>
          <p:cNvSpPr txBox="1"/>
          <p:nvPr/>
        </p:nvSpPr>
        <p:spPr>
          <a:xfrm>
            <a:off x="813206" y="2678068"/>
            <a:ext cx="3114650" cy="121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00000"/>
                </a:solidFill>
              </a:rPr>
              <a:t>Fuente general</a:t>
            </a:r>
          </a:p>
        </p:txBody>
      </p:sp>
      <p:sp>
        <p:nvSpPr>
          <p:cNvPr id="7" name="slides-block:card-grid:0"/>
          <p:cNvSpPr txBox="1"/>
          <p:nvPr/>
        </p:nvSpPr>
        <p:spPr>
          <a:xfrm>
            <a:off x="813206" y="3988479"/>
            <a:ext cx="311465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VES, 40, 92, 121...</a:t>
            </a:r>
          </a:p>
        </p:txBody>
      </p:sp>
      <p:sp>
        <p:nvSpPr>
          <p:cNvPr id="8" name="slides-block:card-grid:0"/>
          <p:cNvSpPr txBox="1"/>
          <p:nvPr/>
        </p:nvSpPr>
        <p:spPr>
          <a:xfrm>
            <a:off x="4538674" y="2678068"/>
            <a:ext cx="3114650" cy="121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00000"/>
                </a:solidFill>
              </a:rPr>
              <a:t>Fuente sucursales</a:t>
            </a:r>
          </a:p>
        </p:txBody>
      </p:sp>
      <p:sp>
        <p:nvSpPr>
          <p:cNvPr id="9" name="slides-block:card-grid:0"/>
          <p:cNvSpPr txBox="1"/>
          <p:nvPr/>
        </p:nvSpPr>
        <p:spPr>
          <a:xfrm>
            <a:off x="4538674" y="3988479"/>
            <a:ext cx="311465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S1, S2, S3... S17</a:t>
            </a:r>
          </a:p>
        </p:txBody>
      </p:sp>
      <p:sp>
        <p:nvSpPr>
          <p:cNvPr id="10" name="slides-block:card-grid:0"/>
          <p:cNvSpPr txBox="1"/>
          <p:nvPr/>
        </p:nvSpPr>
        <p:spPr>
          <a:xfrm>
            <a:off x="8264142" y="2678068"/>
            <a:ext cx="3114652" cy="121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00000"/>
                </a:solidFill>
              </a:rPr>
              <a:t>Catálogo maestro</a:t>
            </a:r>
          </a:p>
        </p:txBody>
      </p:sp>
      <p:sp>
        <p:nvSpPr>
          <p:cNvPr id="11" name="slides-block:card-grid:0"/>
          <p:cNvSpPr txBox="1"/>
          <p:nvPr/>
        </p:nvSpPr>
        <p:spPr>
          <a:xfrm>
            <a:off x="8264142" y="3988479"/>
            <a:ext cx="31146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3553 SKUs desde GitHub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slides-block:table:0"/>
          <p:cNvGraphicFramePr>
            <a:graphicFrameLocks noGrp="1"/>
          </p:cNvGraphicFramePr>
          <p:nvPr/>
        </p:nvGraphicFramePr>
        <p:xfrm>
          <a:off x="609600" y="2548391"/>
          <a:ext cx="10972800" cy="2284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0"/>
                <a:gridCol w="5486400"/>
              </a:tblGrid>
              <a:tr h="456971"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</a:rPr>
                        <a:t>Endpoint</a:t>
                      </a:r>
                    </a:p>
                  </a:txBody>
                  <a:tcPr anchor="ctr" marL="101803" marR="101803" marT="101803" marB="101803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</a:rPr>
                        <a:t>Descripción</a:t>
                      </a:r>
                    </a:p>
                  </a:txBody>
                  <a:tcPr anchor="ctr" marL="101803" marR="101803" marT="101803" marB="101803">
                    <a:solidFill>
                      <a:srgbClr val="000000"/>
                    </a:solidFill>
                  </a:tcPr>
                </a:tc>
              </a:tr>
              <a:tr h="456971"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</a:rPr>
                        <a:t>GET /stock</a:t>
                      </a:r>
                    </a:p>
                  </a:txBody>
                  <a:tcPr anchor="ctr" marL="101803" marR="101803" marT="101803" marB="101803">
                    <a:lnB w="12700" cap="flat" cmpd="sng">
                      <a:solidFill>
                        <a:srgbClr val="F8FA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</a:rPr>
                        <a:t>Listar con filtros</a:t>
                      </a:r>
                    </a:p>
                  </a:txBody>
                  <a:tcPr anchor="ctr" marL="101803" marR="101803" marT="101803" marB="101803">
                    <a:lnB w="12700" cap="flat" cmpd="sng">
                      <a:solidFill>
                        <a:srgbClr val="F8FAF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6971"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</a:rPr>
                        <a:t>GET /stock/{sku}</a:t>
                      </a:r>
                    </a:p>
                  </a:txBody>
                  <a:tcPr anchor="ctr" marL="101803" marR="101803" marT="101803" marB="101803">
                    <a:lnB w="12700" cap="flat" cmpd="sng">
                      <a:solidFill>
                        <a:srgbClr val="F8FA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</a:rPr>
                        <a:t>Ficha individual</a:t>
                      </a:r>
                    </a:p>
                  </a:txBody>
                  <a:tcPr anchor="ctr" marL="101803" marR="101803" marT="101803" marB="101803">
                    <a:lnB w="12700" cap="flat" cmpd="sng">
                      <a:solidFill>
                        <a:srgbClr val="F8FAF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6971"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</a:rPr>
                        <a:t>GET /stock/skus</a:t>
                      </a:r>
                    </a:p>
                  </a:txBody>
                  <a:tcPr anchor="ctr" marL="101803" marR="101803" marT="101803" marB="101803">
                    <a:lnB w="12700" cap="flat" cmpd="sng">
                      <a:solidFill>
                        <a:srgbClr val="F8FA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</a:rPr>
                        <a:t>Universo compacto</a:t>
                      </a:r>
                    </a:p>
                  </a:txBody>
                  <a:tcPr anchor="ctr" marL="101803" marR="101803" marT="101803" marB="101803">
                    <a:lnB w="12700" cap="flat" cmpd="sng">
                      <a:solidFill>
                        <a:srgbClr val="F8FAF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6971"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</a:rPr>
                        <a:t>GET /catalog</a:t>
                      </a:r>
                    </a:p>
                  </a:txBody>
                  <a:tcPr anchor="ctr" marL="101803" marR="101803" marT="101803" marB="101803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</a:rPr>
                        <a:t>Catálogo maestro</a:t>
                      </a:r>
                    </a:p>
                  </a:txBody>
                  <a:tcPr anchor="ctr" marL="101803" marR="101803" marT="101803" marB="101803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00000"/>
                </a:solidFill>
              </a:rPr>
              <a:t>Endpoints principales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00000"/>
                </a:solidFill>
              </a:rPr>
              <a:t>Campo a campo</a:t>
            </a:r>
          </a:p>
        </p:txBody>
      </p:sp>
      <p:sp>
        <p:nvSpPr>
          <p:cNvPr id="3" name="slides-block:stat-row:0"/>
          <p:cNvSpPr txBox="1"/>
          <p:nvPr/>
        </p:nvSpPr>
        <p:spPr>
          <a:xfrm>
            <a:off x="609600" y="3014323"/>
            <a:ext cx="25904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>
                <a:solidFill>
                  <a:srgbClr val="0F172A"/>
                </a:solidFill>
              </a:rPr>
              <a:t>3553</a:t>
            </a:r>
          </a:p>
        </p:txBody>
      </p:sp>
      <p:sp>
        <p:nvSpPr>
          <p:cNvPr id="4" name="slides-block:stat-row:0"/>
          <p:cNvSpPr txBox="1"/>
          <p:nvPr/>
        </p:nvSpPr>
        <p:spPr>
          <a:xfrm>
            <a:off x="609600" y="4019934"/>
            <a:ext cx="2590495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</a:rPr>
              <a:t>SKUs en catálogo</a:t>
            </a:r>
          </a:p>
        </p:txBody>
      </p:sp>
      <p:sp>
        <p:nvSpPr>
          <p:cNvPr id="5" name="slides-block:stat-row:0"/>
          <p:cNvSpPr txBox="1"/>
          <p:nvPr/>
        </p:nvSpPr>
        <p:spPr>
          <a:xfrm>
            <a:off x="3403701" y="3014323"/>
            <a:ext cx="25904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>
                <a:solidFill>
                  <a:srgbClr val="0F172A"/>
                </a:solidFill>
              </a:rPr>
              <a:t>2227</a:t>
            </a:r>
          </a:p>
        </p:txBody>
      </p:sp>
      <p:sp>
        <p:nvSpPr>
          <p:cNvPr id="6" name="slides-block:stat-row:0"/>
          <p:cNvSpPr txBox="1"/>
          <p:nvPr/>
        </p:nvSpPr>
        <p:spPr>
          <a:xfrm>
            <a:off x="3403701" y="4019934"/>
            <a:ext cx="2590495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</a:rPr>
              <a:t>SKUs servidos</a:t>
            </a:r>
          </a:p>
        </p:txBody>
      </p:sp>
      <p:sp>
        <p:nvSpPr>
          <p:cNvPr id="7" name="slides-block:stat-row:0"/>
          <p:cNvSpPr txBox="1"/>
          <p:nvPr/>
        </p:nvSpPr>
        <p:spPr>
          <a:xfrm>
            <a:off x="6197802" y="3014323"/>
            <a:ext cx="25904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>
                <a:solidFill>
                  <a:srgbClr val="0F172A"/>
                </a:solidFill>
              </a:rPr>
              <a:t>20</a:t>
            </a:r>
          </a:p>
        </p:txBody>
      </p:sp>
      <p:sp>
        <p:nvSpPr>
          <p:cNvPr id="8" name="slides-block:stat-row:0"/>
          <p:cNvSpPr txBox="1"/>
          <p:nvPr/>
        </p:nvSpPr>
        <p:spPr>
          <a:xfrm>
            <a:off x="6197802" y="4019934"/>
            <a:ext cx="2590495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</a:rPr>
              <a:t>Almacenes consolidados</a:t>
            </a:r>
          </a:p>
        </p:txBody>
      </p:sp>
      <p:sp>
        <p:nvSpPr>
          <p:cNvPr id="9" name="slides-block:stat-row:0"/>
          <p:cNvSpPr txBox="1"/>
          <p:nvPr/>
        </p:nvSpPr>
        <p:spPr>
          <a:xfrm>
            <a:off x="8991903" y="3014323"/>
            <a:ext cx="259049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>
                <a:solidFill>
                  <a:srgbClr val="0F172A"/>
                </a:solidFill>
              </a:rPr>
              <a:t>10min</a:t>
            </a:r>
          </a:p>
        </p:txBody>
      </p:sp>
      <p:sp>
        <p:nvSpPr>
          <p:cNvPr id="10" name="slides-block:stat-row:0"/>
          <p:cNvSpPr txBox="1"/>
          <p:nvPr/>
        </p:nvSpPr>
        <p:spPr>
          <a:xfrm>
            <a:off x="8991903" y="4019934"/>
            <a:ext cx="2590497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00000"/>
                </a:solidFill>
              </a:rPr>
              <a:t>TTL stock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title-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48640"/>
            <a:ext cx="670560" cy="508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1985249"/>
            <a:ext cx="10972800" cy="0"/>
          </a:xfrm>
          <a:prstGeom prst="bentConnector3">
            <a:avLst/>
          </a:prstGeom>
          <a:ln w="1270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600" y="2442220"/>
            <a:ext cx="10972800" cy="0"/>
          </a:xfrm>
          <a:prstGeom prst="bentConnector3">
            <a:avLst/>
          </a:prstGeom>
          <a:ln w="1270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600" y="2899191"/>
            <a:ext cx="10972800" cy="0"/>
          </a:xfrm>
          <a:prstGeom prst="bentConnector3">
            <a:avLst/>
          </a:prstGeom>
          <a:ln w="1270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s-field:Title"/>
          <p:cNvSpPr txBox="1"/>
          <p:nvPr/>
        </p:nvSpPr>
        <p:spPr>
          <a:xfrm>
            <a:off x="609600" y="781862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00000"/>
                </a:solidFill>
              </a:rPr>
              <a:t>Protecciones</a:t>
            </a:r>
          </a:p>
        </p:txBody>
      </p:sp>
      <p:sp>
        <p:nvSpPr>
          <p:cNvPr id="7" name="slides-field:Body"/>
          <p:cNvSpPr txBox="1"/>
          <p:nvPr/>
        </p:nvSpPr>
        <p:spPr>
          <a:xfrm>
            <a:off x="609600" y="15738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Rate limiting: 150 req/min global</a:t>
            </a:r>
          </a:p>
        </p:txBody>
      </p:sp>
      <p:sp>
        <p:nvSpPr>
          <p:cNvPr id="8" name="slides-field:Body"/>
          <p:cNvSpPr txBox="1"/>
          <p:nvPr/>
        </p:nvSpPr>
        <p:spPr>
          <a:xfrm>
            <a:off x="609600" y="2030855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Circuit breaker: 3 fallos → 5 min pausa</a:t>
            </a:r>
          </a:p>
        </p:txBody>
      </p:sp>
      <p:sp>
        <p:nvSpPr>
          <p:cNvPr id="9" name="slides-field:Body"/>
          <p:cNvSpPr txBox="1"/>
          <p:nvPr/>
        </p:nvSpPr>
        <p:spPr>
          <a:xfrm>
            <a:off x="609600" y="248782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Cache con TTL: 10 min stock, 6h catálogo</a:t>
            </a:r>
          </a:p>
        </p:txBody>
      </p:sp>
      <p:sp>
        <p:nvSpPr>
          <p:cNvPr id="10" name="slides-field:Body"/>
          <p:cNvSpPr txBox="1"/>
          <p:nvPr/>
        </p:nvSpPr>
        <p:spPr>
          <a:xfrm>
            <a:off x="609600" y="2944797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Reintentos con backoff ante caídas del ERP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title-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48640"/>
            <a:ext cx="670560" cy="508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s-field:Title"/>
          <p:cNvSpPr txBox="1"/>
          <p:nvPr/>
        </p:nvSpPr>
        <p:spPr>
          <a:xfrm>
            <a:off x="609600" y="781862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00000"/>
                </a:solidFill>
              </a:rPr>
              <a:t>Ecosistema</a:t>
            </a:r>
          </a:p>
        </p:txBody>
      </p:sp>
      <p:sp>
        <p:nvSpPr>
          <p:cNvPr id="4" name="slides-field:Body"/>
          <p:cNvSpPr txBox="1"/>
          <p:nvPr/>
        </p:nvSpPr>
        <p:spPr>
          <a:xfrm>
            <a:off x="609600" y="1573884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11+ repos consumen la API: pedido-vigencias, ventas-pulse, stock-reporter, y más. Cada uno con su configuración propia.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title-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48640"/>
            <a:ext cx="670560" cy="508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" y="1985249"/>
            <a:ext cx="10972800" cy="0"/>
          </a:xfrm>
          <a:prstGeom prst="bentConnector3">
            <a:avLst/>
          </a:prstGeom>
          <a:ln w="1270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600" y="2442220"/>
            <a:ext cx="10972800" cy="0"/>
          </a:xfrm>
          <a:prstGeom prst="bentConnector3">
            <a:avLst/>
          </a:prstGeom>
          <a:ln w="1270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600" y="2899191"/>
            <a:ext cx="10972800" cy="0"/>
          </a:xfrm>
          <a:prstGeom prst="bentConnector3">
            <a:avLst/>
          </a:prstGeom>
          <a:ln w="1270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s-field:Title"/>
          <p:cNvSpPr txBox="1"/>
          <p:nvPr/>
        </p:nvSpPr>
        <p:spPr>
          <a:xfrm>
            <a:off x="609600" y="781862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00000"/>
                </a:solidFill>
              </a:rPr>
              <a:t>Roadmap futuro</a:t>
            </a:r>
          </a:p>
        </p:txBody>
      </p:sp>
      <p:sp>
        <p:nvSpPr>
          <p:cNvPr id="7" name="slides-field:Body"/>
          <p:cNvSpPr txBox="1"/>
          <p:nvPr/>
        </p:nvSpPr>
        <p:spPr>
          <a:xfrm>
            <a:off x="609600" y="15738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Descuentos desde SKU_PRECIOS.xlsx</a:t>
            </a:r>
          </a:p>
        </p:txBody>
      </p:sp>
      <p:sp>
        <p:nvSpPr>
          <p:cNvPr id="8" name="slides-field:Body"/>
          <p:cNvSpPr txBox="1"/>
          <p:nvPr/>
        </p:nvSpPr>
        <p:spPr>
          <a:xfrm>
            <a:off x="609600" y="2030855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Medidas de caja (largo/ancho/alto)</a:t>
            </a:r>
          </a:p>
        </p:txBody>
      </p:sp>
      <p:sp>
        <p:nvSpPr>
          <p:cNvPr id="9" name="slides-field:Body"/>
          <p:cNvSpPr txBox="1"/>
          <p:nvPr/>
        </p:nvSpPr>
        <p:spPr>
          <a:xfrm>
            <a:off x="609600" y="248782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Mypy estricto</a:t>
            </a:r>
          </a:p>
        </p:txBody>
      </p:sp>
      <p:sp>
        <p:nvSpPr>
          <p:cNvPr id="10" name="slides-field:Body"/>
          <p:cNvSpPr txBox="1"/>
          <p:nvPr/>
        </p:nvSpPr>
        <p:spPr>
          <a:xfrm>
            <a:off x="609600" y="2944797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00000"/>
                </a:solidFill>
              </a:rPr>
              <a:t>Cache HTTP estratégico por SKU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statement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field:Statement"/>
          <p:cNvSpPr txBox="1"/>
          <p:nvPr/>
        </p:nvSpPr>
        <p:spPr>
          <a:xfrm>
            <a:off x="609600" y="1165860"/>
            <a:ext cx="10972800" cy="4389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600">
                <a:solidFill>
                  <a:srgbClr val="FFFFFF"/>
                </a:solidFill>
              </a:rPr>
              <a:t>github.com/carloscus/g360-stock-api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DC2626"/>
      </a:accent1>
      <a:accent2>
        <a:srgbClr val="64748B"/>
      </a:accent2>
      <a:accent3>
        <a:srgbClr val="000000"/>
      </a:accent3>
      <a:accent4>
        <a:srgbClr val="F8FAFC"/>
      </a:accent4>
      <a:accent5>
        <a:srgbClr val="475569"/>
      </a:accent5>
      <a:accent6>
        <a:srgbClr val="0F172A"/>
      </a:accent6>
      <a:hlink>
        <a:srgbClr val="0000FF"/>
      </a:hlink>
      <a:folHlink>
        <a:srgbClr val="800080"/>
      </a:folHlink>
    </a:clrScheme>
    <a:fontScheme name="Office">
      <a:majorFont>
        <a:latin typeface="Outfi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slides-spec: stock_api.deck.md sha256:9cf8befcfef2be53d80597eadf18a3e57be266513d559e85c1ceb1454b3d5d94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